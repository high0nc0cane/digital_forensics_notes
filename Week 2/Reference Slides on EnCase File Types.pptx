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7"/>
  </p:notesMasterIdLst>
  <p:handoutMasterIdLst>
    <p:handoutMasterId r:id="rId8"/>
  </p:handoutMasterIdLst>
  <p:sldIdLst>
    <p:sldId id="503" r:id="rId2"/>
    <p:sldId id="501" r:id="rId3"/>
    <p:sldId id="498" r:id="rId4"/>
    <p:sldId id="499" r:id="rId5"/>
    <p:sldId id="500" r:id="rId6"/>
  </p:sldIdLst>
  <p:sldSz cx="9144000" cy="6858000" type="screen4x3"/>
  <p:notesSz cx="6784975" cy="9856788"/>
  <p:custDataLst>
    <p:tags r:id="rId9"/>
  </p:custDataLst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7">
          <p15:clr>
            <a:srgbClr val="A4A3A4"/>
          </p15:clr>
        </p15:guide>
        <p15:guide id="2" pos="291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0099"/>
    <a:srgbClr val="009900"/>
    <a:srgbClr val="0033CC"/>
    <a:srgbClr val="800000"/>
    <a:srgbClr val="003300"/>
    <a:srgbClr val="CCECFF"/>
    <a:srgbClr val="CCFF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81" autoAdjust="0"/>
  </p:normalViewPr>
  <p:slideViewPr>
    <p:cSldViewPr>
      <p:cViewPr varScale="1">
        <p:scale>
          <a:sx n="70" d="100"/>
          <a:sy n="70" d="100"/>
        </p:scale>
        <p:origin x="1108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00" d="100"/>
          <a:sy n="100" d="100"/>
        </p:scale>
        <p:origin x="-1572" y="648"/>
      </p:cViewPr>
      <p:guideLst>
        <p:guide orient="horz" pos="2167"/>
        <p:guide pos="291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589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0"/>
            <a:ext cx="2940051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18" tIns="0" rIns="19218" bIns="0" numCol="1" anchor="t" anchorCtr="0" compatLnSpc="1">
            <a:prstTxWarp prst="textNoShape">
              <a:avLst/>
            </a:prstTxWarp>
          </a:bodyPr>
          <a:lstStyle>
            <a:lvl1pPr defTabSz="922338">
              <a:defRPr sz="1000" i="1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4925" y="0"/>
            <a:ext cx="29400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18" tIns="0" rIns="19218" bIns="0" numCol="1" anchor="t" anchorCtr="0" compatLnSpc="1">
            <a:prstTxWarp prst="textNoShape">
              <a:avLst/>
            </a:prstTxWarp>
          </a:bodyPr>
          <a:lstStyle>
            <a:lvl1pPr algn="r" defTabSz="922338">
              <a:defRPr sz="1000" i="1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6625" y="746125"/>
            <a:ext cx="4910138" cy="3683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3288" y="4681538"/>
            <a:ext cx="4976812" cy="443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3" rIns="92885" bIns="464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88" y="9363075"/>
            <a:ext cx="2940051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18" tIns="0" rIns="19218" bIns="0" numCol="1" anchor="b" anchorCtr="0" compatLnSpc="1">
            <a:prstTxWarp prst="textNoShape">
              <a:avLst/>
            </a:prstTxWarp>
          </a:bodyPr>
          <a:lstStyle>
            <a:lvl1pPr defTabSz="922338">
              <a:defRPr sz="1000" i="1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4925" y="9363075"/>
            <a:ext cx="29400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18" tIns="0" rIns="19218" bIns="0" numCol="1" anchor="b" anchorCtr="0" compatLnSpc="1">
            <a:prstTxWarp prst="textNoShape">
              <a:avLst/>
            </a:prstTxWarp>
          </a:bodyPr>
          <a:lstStyle>
            <a:lvl1pPr algn="r" defTabSz="922338">
              <a:defRPr sz="1000" i="1">
                <a:latin typeface="Arial" charset="0"/>
              </a:defRPr>
            </a:lvl1pPr>
          </a:lstStyle>
          <a:p>
            <a:fld id="{981EA91C-682A-4264-9ABB-500530C55E1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0587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968DAB-D927-432F-BAF4-14E4C6CD2D09}" type="slidenum">
              <a:rPr lang="en-GB"/>
              <a:pPr/>
              <a:t>1</a:t>
            </a:fld>
            <a:endParaRPr lang="en-GB" dirty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28600" indent="-228600">
              <a:buFontTx/>
              <a:buAutoNum type="arabicPeriod"/>
            </a:pPr>
            <a:r>
              <a:rPr lang="en-US" dirty="0"/>
              <a:t>Left-hand Bar – Replace FSP by your module code and X by the lecture number.</a:t>
            </a:r>
          </a:p>
          <a:p>
            <a:pPr marL="228600" indent="-228600">
              <a:buFontTx/>
              <a:buAutoNum type="arabicPeriod"/>
            </a:pPr>
            <a:r>
              <a:rPr lang="en-US" dirty="0"/>
              <a:t>Replace Lecture Title</a:t>
            </a:r>
          </a:p>
          <a:p>
            <a:pPr marL="228600" indent="-228600">
              <a:buFontTx/>
              <a:buAutoNum type="arabicPeriod"/>
            </a:pPr>
            <a:r>
              <a:rPr lang="en-US" dirty="0"/>
              <a:t>Replace &lt; Module Name &gt;</a:t>
            </a:r>
          </a:p>
          <a:p>
            <a:pPr marL="228600" indent="-228600">
              <a:buFontTx/>
              <a:buAutoNum type="arabicPeriod"/>
            </a:pPr>
            <a:r>
              <a:rPr lang="en-US" dirty="0"/>
              <a:t>Replace Year and Semester if necessary</a:t>
            </a:r>
          </a:p>
        </p:txBody>
      </p:sp>
    </p:spTree>
    <p:extLst>
      <p:ext uri="{BB962C8B-B14F-4D97-AF65-F5344CB8AC3E}">
        <p14:creationId xmlns:p14="http://schemas.microsoft.com/office/powerpoint/2010/main" val="4082869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09600"/>
            <a:ext cx="7620000" cy="838200"/>
          </a:xfrm>
          <a:solidFill>
            <a:srgbClr val="0000FF"/>
          </a:solidFill>
          <a:ln w="9525"/>
        </p:spPr>
        <p:txBody>
          <a:bodyPr anchor="b"/>
          <a:lstStyle>
            <a:lvl1pPr algn="ctr">
              <a:defRPr sz="4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/>
              <a:t>Chapter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038600" y="2743200"/>
            <a:ext cx="4419600" cy="2895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4800">
                <a:latin typeface="Verdana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    slide</a:t>
            </a:r>
            <a:fld id="{CD1E3C00-1CCA-42EC-B01C-177DBAD4B2D1}" type="slidenum">
              <a:rPr lang="en-US">
                <a:solidFill>
                  <a:srgbClr val="FF0000"/>
                </a:solidFill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  Lecture 1  slide</a:t>
            </a:r>
            <a:fld id="{0C26A06C-9070-4A8E-B687-61C947234CD4}" type="slidenum">
              <a:rPr lang="en-US">
                <a:solidFill>
                  <a:srgbClr val="FF0000"/>
                </a:solidFill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066800"/>
            <a:ext cx="40005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3900" y="1066800"/>
            <a:ext cx="40005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  Lecture 1  slide</a:t>
            </a:r>
            <a:fld id="{378752D7-BD66-4972-98AF-6E8DAE2B30BE}" type="slidenum">
              <a:rPr lang="en-US">
                <a:solidFill>
                  <a:srgbClr val="FF0000"/>
                </a:solidFill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  Lecture 1  slide</a:t>
            </a:r>
            <a:fld id="{0A945A3D-922A-4F70-9C87-005A23351DFE}" type="slidenum">
              <a:rPr lang="en-US">
                <a:solidFill>
                  <a:srgbClr val="FF0000"/>
                </a:solidFill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  Lecture 1  slide</a:t>
            </a:r>
            <a:fld id="{4D887614-A9B7-4631-AE2F-C75E25F11505}" type="slidenum">
              <a:rPr lang="en-US">
                <a:solidFill>
                  <a:srgbClr val="FF0000"/>
                </a:solidFill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  Lecture 1  slide</a:t>
            </a:r>
            <a:fld id="{A064A8E4-5CFD-40C7-A9F8-40CC00C3BCDF}" type="slidenum">
              <a:rPr lang="en-US">
                <a:solidFill>
                  <a:srgbClr val="FF0000"/>
                </a:solidFill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  Lecture 1  slide</a:t>
            </a:r>
            <a:fld id="{DB0E967E-D904-4044-9324-686F4808CDEA}" type="slidenum">
              <a:rPr lang="en-US">
                <a:solidFill>
                  <a:srgbClr val="FF0000"/>
                </a:solidFill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  Lecture 1  slide</a:t>
            </a:r>
            <a:fld id="{461A602D-37C2-4D03-9F6E-2E562A0C300F}" type="slidenum">
              <a:rPr lang="en-US">
                <a:solidFill>
                  <a:srgbClr val="FF0000"/>
                </a:solidFill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  Lecture 1  slide</a:t>
            </a:r>
            <a:fld id="{024F30DD-3833-4699-9071-53B055338EC3}" type="slidenum">
              <a:rPr lang="en-US">
                <a:solidFill>
                  <a:srgbClr val="FF0000"/>
                </a:solidFill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100" y="0"/>
            <a:ext cx="2247900" cy="6248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591300" cy="6248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  Lecture 1  slide</a:t>
            </a:r>
            <a:fld id="{A70D10B6-495A-4E5A-82CC-FC79817E8E25}" type="slidenum">
              <a:rPr lang="en-US">
                <a:solidFill>
                  <a:srgbClr val="FF0000"/>
                </a:solidFill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066800"/>
            <a:ext cx="40005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3900" y="1066800"/>
            <a:ext cx="40005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slide</a:t>
            </a:r>
            <a:fld id="{1C03BFBB-5B0A-4B81-B724-61598F635569}" type="slidenum">
              <a:rPr lang="en-US">
                <a:solidFill>
                  <a:srgbClr val="FF0000"/>
                </a:solidFill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066800"/>
            <a:ext cx="40005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33900" y="1066800"/>
            <a:ext cx="40005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33900" y="3733800"/>
            <a:ext cx="40005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    slide</a:t>
            </a:r>
            <a:fld id="{26078C50-D7FF-4F3B-9E08-71D5368D3168}" type="slidenum">
              <a:rPr lang="en-US">
                <a:solidFill>
                  <a:srgbClr val="FF0000"/>
                </a:solidFill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066800"/>
            <a:ext cx="81534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8143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200">
                <a:latin typeface="Arial Narrow" pitchFamily="34" charset="0"/>
              </a:defRPr>
            </a:lvl1pPr>
          </a:lstStyle>
          <a:p>
            <a:r>
              <a:rPr lang="en-US"/>
              <a:t>slide</a:t>
            </a:r>
            <a:fld id="{2E602F3E-0719-4583-AC03-0746AA0F36EA}" type="slidenum">
              <a:rPr lang="en-US">
                <a:solidFill>
                  <a:srgbClr val="FF0000"/>
                </a:solidFill>
              </a:rPr>
              <a:pPr/>
              <a:t>‹#›</a:t>
            </a:fld>
            <a:endParaRPr lang="en-US"/>
          </a:p>
        </p:txBody>
      </p:sp>
      <p:sp>
        <p:nvSpPr>
          <p:cNvPr id="48144" name="Rectangle 16"/>
          <p:cNvSpPr>
            <a:spLocks noChangeArrowheads="1"/>
          </p:cNvSpPr>
          <p:nvPr userDrawn="1"/>
        </p:nvSpPr>
        <p:spPr bwMode="auto">
          <a:xfrm>
            <a:off x="3352800" y="6477000"/>
            <a:ext cx="2667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lvl="1" algn="ctr">
              <a:spcBef>
                <a:spcPct val="50000"/>
              </a:spcBef>
              <a:defRPr/>
            </a:pPr>
            <a:r>
              <a:rPr lang="en-US" sz="1200" dirty="0">
                <a:latin typeface="Arial Narrow" pitchFamily="34" charset="0"/>
              </a:rPr>
              <a:t>Diploma in CSF/IT </a:t>
            </a:r>
          </a:p>
          <a:p>
            <a:pPr lvl="1" algn="ctr">
              <a:spcBef>
                <a:spcPct val="50000"/>
              </a:spcBef>
              <a:defRPr/>
            </a:pPr>
            <a:r>
              <a:rPr lang="en-US" sz="1200" dirty="0">
                <a:latin typeface="Arial Narrow" pitchFamily="34" charset="0"/>
              </a:rPr>
              <a:t>     Year 2/3, Semester 4/6</a:t>
            </a:r>
          </a:p>
        </p:txBody>
      </p:sp>
      <p:sp>
        <p:nvSpPr>
          <p:cNvPr id="48145" name="Line 17"/>
          <p:cNvSpPr>
            <a:spLocks noChangeShapeType="1"/>
          </p:cNvSpPr>
          <p:nvPr userDrawn="1"/>
        </p:nvSpPr>
        <p:spPr bwMode="auto">
          <a:xfrm>
            <a:off x="457200" y="6248400"/>
            <a:ext cx="815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146" name="Rectangle 18"/>
          <p:cNvSpPr>
            <a:spLocks noChangeArrowheads="1"/>
          </p:cNvSpPr>
          <p:nvPr userDrawn="1"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0033CC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8991600" cy="685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</a:t>
            </a:r>
          </a:p>
        </p:txBody>
      </p:sp>
      <p:sp>
        <p:nvSpPr>
          <p:cNvPr id="9" name="Rectangle 8"/>
          <p:cNvSpPr>
            <a:spLocks noChangeArrowheads="1"/>
          </p:cNvSpPr>
          <p:nvPr userDrawn="1"/>
        </p:nvSpPr>
        <p:spPr bwMode="auto">
          <a:xfrm>
            <a:off x="5508104" y="6362700"/>
            <a:ext cx="2667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lvl="1" algn="ctr">
              <a:spcBef>
                <a:spcPct val="50000"/>
              </a:spcBef>
              <a:defRPr/>
            </a:pPr>
            <a:r>
              <a:rPr lang="en-US" sz="1200" dirty="0">
                <a:latin typeface="Arial Narrow" pitchFamily="34" charset="0"/>
              </a:rPr>
              <a:t>Last update:</a:t>
            </a:r>
            <a:fld id="{DC34D948-B35D-4441-BC78-64D3E1CAC0BC}" type="datetime1">
              <a:rPr lang="en-US" sz="1200" smtClean="0">
                <a:latin typeface="Arial Narrow" pitchFamily="34" charset="0"/>
              </a:rPr>
              <a:t>30/09/2024</a:t>
            </a:fld>
            <a:endParaRPr lang="en-US" sz="1200" dirty="0">
              <a:latin typeface="Arial Narrow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F2A785-0C95-8135-F50B-834A085C964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404938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Official Open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0E026C-1B69-0929-20BD-B22463B8460F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6411312"/>
            <a:ext cx="1340064" cy="4466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43" r:id="rId12"/>
    <p:sldLayoutId id="2147483855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40000"/>
        <a:buFont typeface="Wingdings" pitchFamily="2" charset="2"/>
        <a:buChar char="§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SzPct val="120000"/>
        <a:buFont typeface="Wingdings" pitchFamily="2" charset="2"/>
        <a:buChar char="§"/>
        <a:defRPr kumimoji="1" sz="2800" b="1">
          <a:solidFill>
            <a:srgbClr val="0033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kumimoji="1" sz="2400">
          <a:solidFill>
            <a:schemeClr val="hlink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90000"/>
        <a:buFont typeface="Wingdings" pitchFamily="2" charset="2"/>
        <a:buChar char="§"/>
        <a:defRPr kumimoji="1" sz="2000">
          <a:solidFill>
            <a:srgbClr val="009900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90000"/>
        <a:buFont typeface="Wingdings" pitchFamily="2" charset="2"/>
        <a:buChar char="§"/>
        <a:defRPr kumimoji="1" sz="2000">
          <a:solidFill>
            <a:srgbClr val="009900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90000"/>
        <a:buFont typeface="Wingdings" pitchFamily="2" charset="2"/>
        <a:buChar char="§"/>
        <a:defRPr kumimoji="1" sz="2000">
          <a:solidFill>
            <a:srgbClr val="009900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90000"/>
        <a:buFont typeface="Wingdings" pitchFamily="2" charset="2"/>
        <a:buChar char="§"/>
        <a:defRPr kumimoji="1" sz="2000">
          <a:solidFill>
            <a:srgbClr val="009900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90000"/>
        <a:buFont typeface="Wingdings" pitchFamily="2" charset="2"/>
        <a:buChar char="§"/>
        <a:defRPr kumimoji="1" sz="2000">
          <a:solidFill>
            <a:srgbClr val="0099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/>
          <p:cNvSpPr>
            <a:spLocks noChangeArrowheads="1"/>
          </p:cNvSpPr>
          <p:nvPr/>
        </p:nvSpPr>
        <p:spPr bwMode="auto">
          <a:xfrm>
            <a:off x="0" y="0"/>
            <a:ext cx="1828800" cy="6858000"/>
          </a:xfrm>
          <a:prstGeom prst="rect">
            <a:avLst/>
          </a:prstGeom>
          <a:solidFill>
            <a:srgbClr val="0033CC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00232" y="2071678"/>
            <a:ext cx="6857999" cy="857256"/>
          </a:xfrm>
        </p:spPr>
        <p:txBody>
          <a:bodyPr/>
          <a:lstStyle/>
          <a:p>
            <a:pPr algn="ctr">
              <a:lnSpc>
                <a:spcPct val="130000"/>
              </a:lnSpc>
            </a:pPr>
            <a:r>
              <a:rPr lang="en-GB" sz="4000" b="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Reference Slides</a:t>
            </a:r>
          </a:p>
          <a:p>
            <a:pPr algn="ctr">
              <a:lnSpc>
                <a:spcPct val="130000"/>
              </a:lnSpc>
            </a:pPr>
            <a:r>
              <a:rPr lang="en-GB" sz="4000" b="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GB" sz="4000" b="0" dirty="0" err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EnCase</a:t>
            </a:r>
            <a:r>
              <a:rPr lang="en-GB" sz="4000" b="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File Types)</a:t>
            </a:r>
          </a:p>
          <a:p>
            <a:pPr algn="ctr">
              <a:lnSpc>
                <a:spcPct val="130000"/>
              </a:lnSpc>
            </a:pPr>
            <a:r>
              <a:rPr lang="en-GB" sz="4000" b="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en-GB" sz="4000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6389" name="Text Box 9"/>
          <p:cNvSpPr txBox="1">
            <a:spLocks noChangeArrowheads="1"/>
          </p:cNvSpPr>
          <p:nvPr/>
        </p:nvSpPr>
        <p:spPr bwMode="auto">
          <a:xfrm>
            <a:off x="0" y="152400"/>
            <a:ext cx="1752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GB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charset="0"/>
              </a:rPr>
              <a:t>DF</a:t>
            </a:r>
          </a:p>
        </p:txBody>
      </p:sp>
      <p:sp>
        <p:nvSpPr>
          <p:cNvPr id="129038" name="Rectangle 14"/>
          <p:cNvSpPr>
            <a:spLocks noChangeArrowheads="1"/>
          </p:cNvSpPr>
          <p:nvPr/>
        </p:nvSpPr>
        <p:spPr bwMode="auto">
          <a:xfrm>
            <a:off x="2514600" y="3810000"/>
            <a:ext cx="5486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140000"/>
              <a:buFont typeface="Wingdings" pitchFamily="2" charset="2"/>
              <a:buNone/>
            </a:pPr>
            <a:r>
              <a:rPr kumimoji="1" lang="en-GB" sz="4800" b="1" dirty="0">
                <a:solidFill>
                  <a:srgbClr val="FF0000"/>
                </a:solidFill>
                <a:latin typeface="Arial Narrow" pitchFamily="34" charset="0"/>
              </a:rPr>
              <a:t> 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140000"/>
              <a:buFont typeface="Wingdings" pitchFamily="2" charset="2"/>
              <a:buNone/>
            </a:pPr>
            <a:endParaRPr kumimoji="1" lang="en-GB" sz="3600" b="1" dirty="0">
              <a:solidFill>
                <a:srgbClr val="FF0000"/>
              </a:solidFill>
              <a:latin typeface="Arial Narrow" pitchFamily="34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140000"/>
              <a:buFont typeface="Wingdings" pitchFamily="2" charset="2"/>
              <a:buNone/>
            </a:pPr>
            <a:r>
              <a:rPr kumimoji="1" lang="en-GB" dirty="0">
                <a:latin typeface="Arial Narrow" pitchFamily="34" charset="0"/>
              </a:rPr>
              <a:t>Diploma in CSF/IT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140000"/>
              <a:buFont typeface="Wingdings" pitchFamily="2" charset="2"/>
              <a:buNone/>
            </a:pPr>
            <a:r>
              <a:rPr kumimoji="1" lang="en-GB" dirty="0">
                <a:latin typeface="Arial Narrow" pitchFamily="34" charset="0"/>
              </a:rPr>
              <a:t>Year 2/3 (2024/25), Semester 4/6</a:t>
            </a:r>
            <a:endParaRPr kumimoji="1" lang="en-GB" sz="4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6391" name="Line 15"/>
          <p:cNvSpPr>
            <a:spLocks noChangeShapeType="1"/>
          </p:cNvSpPr>
          <p:nvPr/>
        </p:nvSpPr>
        <p:spPr bwMode="auto">
          <a:xfrm>
            <a:off x="1828800" y="1143000"/>
            <a:ext cx="731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 dirty="0"/>
          </a:p>
        </p:txBody>
      </p:sp>
      <p:sp>
        <p:nvSpPr>
          <p:cNvPr id="9" name="Rectangle 8"/>
          <p:cNvSpPr/>
          <p:nvPr/>
        </p:nvSpPr>
        <p:spPr>
          <a:xfrm>
            <a:off x="3869611" y="3832683"/>
            <a:ext cx="32335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GB" sz="3600" b="1" dirty="0">
                <a:solidFill>
                  <a:srgbClr val="FF0000"/>
                </a:solidFill>
                <a:latin typeface="Arial Narrow" pitchFamily="34" charset="0"/>
              </a:rPr>
              <a:t>Digital Forensics</a:t>
            </a:r>
            <a:endParaRPr lang="en-US"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0E026C-1B69-0929-20BD-B22463B84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145850"/>
            <a:ext cx="2680129" cy="89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49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What is a Case File?</a:t>
            </a:r>
            <a:endParaRPr lang="en-SG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case file is a </a:t>
            </a:r>
            <a:r>
              <a:rPr lang="en-US" dirty="0">
                <a:solidFill>
                  <a:srgbClr val="0033CC"/>
                </a:solidFill>
              </a:rPr>
              <a:t>text file </a:t>
            </a:r>
            <a:r>
              <a:rPr lang="en-US" dirty="0"/>
              <a:t>that contains information specific to a case. It is named as ‘.case’.</a:t>
            </a:r>
          </a:p>
          <a:p>
            <a:r>
              <a:rPr lang="en-US" dirty="0"/>
              <a:t>It contains </a:t>
            </a:r>
            <a:r>
              <a:rPr lang="en-US" dirty="0">
                <a:solidFill>
                  <a:srgbClr val="FF0000"/>
                </a:solidFill>
              </a:rPr>
              <a:t>pointers</a:t>
            </a:r>
            <a:r>
              <a:rPr lang="en-US" dirty="0"/>
              <a:t> to any number of evidence files or bookmarks, search results, sorts etc.</a:t>
            </a:r>
          </a:p>
          <a:p>
            <a:r>
              <a:rPr lang="en-US" dirty="0"/>
              <a:t>The case file cannot be simultaneously accessed by more than 1 examiner at a time.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    slide</a:t>
            </a:r>
            <a:fld id="{CD1E3C00-1CCA-42EC-B01C-177DBAD4B2D1}" type="slidenum">
              <a:rPr lang="en-US" smtClean="0">
                <a:solidFill>
                  <a:srgbClr val="FF0000"/>
                </a:solidFill>
              </a:rPr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71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File Types in </a:t>
            </a:r>
            <a:r>
              <a:rPr lang="en-US" sz="2800" dirty="0" err="1"/>
              <a:t>EnCase</a:t>
            </a:r>
            <a:endParaRPr lang="en-S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File, </a:t>
            </a:r>
            <a:r>
              <a:rPr lang="en-US" i="1" dirty="0"/>
              <a:t>&lt;additional defined attributes&gt;</a:t>
            </a:r>
          </a:p>
          <a:p>
            <a:pPr lvl="1"/>
            <a:r>
              <a:rPr lang="en-US" dirty="0"/>
              <a:t>Attributes can include Archive, Hidden, System, Read only, or a combination of these.</a:t>
            </a:r>
          </a:p>
          <a:p>
            <a:r>
              <a:rPr lang="en-US" dirty="0"/>
              <a:t>File, Deleted, </a:t>
            </a:r>
            <a:r>
              <a:rPr lang="en-US" i="1" dirty="0"/>
              <a:t>&lt;additional defined attributes</a:t>
            </a:r>
            <a:r>
              <a:rPr lang="en-US" dirty="0"/>
              <a:t>&gt;</a:t>
            </a:r>
          </a:p>
          <a:p>
            <a:pPr lvl="1"/>
            <a:r>
              <a:rPr lang="en-US" dirty="0" err="1"/>
              <a:t>EnCase</a:t>
            </a:r>
            <a:r>
              <a:rPr lang="en-US" dirty="0"/>
              <a:t> located an entry that indicates this file has been deleted.</a:t>
            </a:r>
          </a:p>
          <a:p>
            <a:pPr lvl="1"/>
            <a:r>
              <a:rPr lang="en-US" dirty="0" err="1"/>
              <a:t>EnCase</a:t>
            </a:r>
            <a:r>
              <a:rPr lang="en-US" dirty="0"/>
              <a:t> then checks File Allocation Table (for FAT) or $Bitmap(for NTFS) to determine if starting cluster for this file is in use by other object. If not, this is indicated as “deleted”.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    slide</a:t>
            </a:r>
            <a:fld id="{CD1E3C00-1CCA-42EC-B01C-177DBAD4B2D1}" type="slidenum">
              <a:rPr lang="en-US" smtClean="0">
                <a:solidFill>
                  <a:srgbClr val="FF0000"/>
                </a:solidFill>
              </a:rPr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116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File Types in </a:t>
            </a:r>
            <a:r>
              <a:rPr lang="en-US" sz="2800" dirty="0" err="1"/>
              <a:t>EnCase</a:t>
            </a:r>
            <a:endParaRPr lang="en-S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File, Deleted, Overwritten, </a:t>
            </a:r>
            <a:r>
              <a:rPr lang="en-US" i="1" dirty="0"/>
              <a:t>&lt;additional defined attributes&gt;</a:t>
            </a:r>
          </a:p>
          <a:p>
            <a:pPr lvl="1"/>
            <a:r>
              <a:rPr lang="en-US" dirty="0"/>
              <a:t>Same as “File, Deleted”, but the starting cluster is in use by another object.</a:t>
            </a:r>
          </a:p>
          <a:p>
            <a:r>
              <a:rPr lang="en-US" dirty="0"/>
              <a:t>File, Internal, </a:t>
            </a:r>
            <a:r>
              <a:rPr lang="en-US" i="1" dirty="0"/>
              <a:t>&lt;additional defined attributes&gt;</a:t>
            </a:r>
          </a:p>
          <a:p>
            <a:pPr lvl="1"/>
            <a:r>
              <a:rPr lang="en-US" dirty="0"/>
              <a:t>Reserved for internal system files created when a volume is formatted with NTFS and other file systems, but not for FAT file system.</a:t>
            </a:r>
          </a:p>
          <a:p>
            <a:pPr lvl="1"/>
            <a:r>
              <a:rPr lang="en-US" dirty="0"/>
              <a:t>E.g. $Bitmap, $MFT.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    slide</a:t>
            </a:r>
            <a:fld id="{CD1E3C00-1CCA-42EC-B01C-177DBAD4B2D1}" type="slidenum">
              <a:rPr lang="en-US" smtClean="0">
                <a:solidFill>
                  <a:srgbClr val="FF0000"/>
                </a:solidFill>
              </a:rPr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55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File Types in </a:t>
            </a:r>
            <a:r>
              <a:rPr lang="en-US" sz="2800" dirty="0" err="1"/>
              <a:t>EnCase</a:t>
            </a:r>
            <a:endParaRPr lang="en-S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6712"/>
            <a:ext cx="8892480" cy="5411688"/>
          </a:xfrm>
        </p:spPr>
        <p:txBody>
          <a:bodyPr/>
          <a:lstStyle/>
          <a:p>
            <a:r>
              <a:rPr lang="en-US" dirty="0"/>
              <a:t>File, Unallocated Clusters</a:t>
            </a:r>
          </a:p>
          <a:p>
            <a:pPr lvl="1"/>
            <a:r>
              <a:rPr lang="en-US" dirty="0" err="1"/>
              <a:t>EnCase</a:t>
            </a:r>
            <a:r>
              <a:rPr lang="en-US" dirty="0"/>
              <a:t> will present unallocated space contained on a given volume as a single file.</a:t>
            </a:r>
          </a:p>
          <a:p>
            <a:pPr lvl="1"/>
            <a:r>
              <a:rPr lang="en-US" dirty="0"/>
              <a:t>Unallocated clusters, those are not allocated to a file or folder, will exist throughout the volume in non-contiguous areas. </a:t>
            </a:r>
          </a:p>
          <a:p>
            <a:r>
              <a:rPr lang="en-US" dirty="0"/>
              <a:t>Folder, Recycle Bin, Hidden, System</a:t>
            </a:r>
          </a:p>
          <a:p>
            <a:pPr lvl="1"/>
            <a:r>
              <a:rPr lang="en-US" dirty="0"/>
              <a:t>Recycle bin (or Recycler) is simply a folder, but one has unique characteristics. </a:t>
            </a:r>
          </a:p>
          <a:p>
            <a:pPr lvl="1"/>
            <a:r>
              <a:rPr lang="en-US" dirty="0"/>
              <a:t>When a user places a file or folder into Recycle bin, they are simply moving that object from one folder to another.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    slide</a:t>
            </a:r>
            <a:fld id="{CD1E3C00-1CCA-42EC-B01C-177DBAD4B2D1}" type="slidenum">
              <a:rPr lang="en-US" smtClean="0">
                <a:solidFill>
                  <a:srgbClr val="FF0000"/>
                </a:solidFill>
              </a:rPr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698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8"/>
  <p:tag name="MMPROD_UIDATA" val="&lt;database version=&quot;6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376&quot;/&gt;&lt;/object&gt;&lt;object type=&quot;3&quot; unique_id=&quot;10006&quot;&gt;&lt;property id=&quot;20148&quot; value=&quot;5&quot;/&gt;&lt;property id=&quot;20300&quot; value=&quot;Slide 2 - &amp;quot;Objectives&amp;quot;&quot;/&gt;&lt;property id=&quot;20307&quot; value=&quot;380&quot;/&gt;&lt;/object&gt;&lt;object type=&quot;3&quot; unique_id=&quot;10008&quot;&gt;&lt;property id=&quot;20148&quot; value=&quot;5&quot;/&gt;&lt;property id=&quot;20300&quot; value=&quot;Slide 32 - &amp;quot;Reference Books&amp;quot;&quot;/&gt;&lt;property id=&quot;20307&quot; value=&quot;437&quot;/&gt;&lt;/object&gt;&lt;object type=&quot;3&quot; unique_id=&quot;10505&quot;&gt;&lt;property id=&quot;20148&quot; value=&quot;5&quot;/&gt;&lt;property id=&quot;20300&quot; value=&quot;Slide 4 - &amp;quot;Introduction to Physical Security&amp;quot;&quot;/&gt;&lt;property id=&quot;20307&quot; value=&quot;446&quot;/&gt;&lt;/object&gt;&lt;object type=&quot;3&quot; unique_id=&quot;10587&quot;&gt;&lt;property id=&quot;20148&quot; value=&quot;5&quot;/&gt;&lt;property id=&quot;20300&quot; value=&quot;Slide 8 - &amp;quot;Access Control&amp;quot;&quot;/&gt;&lt;property id=&quot;20307&quot; value=&quot;449&quot;/&gt;&lt;/object&gt;&lt;object type=&quot;3&quot; unique_id=&quot;10588&quot;&gt;&lt;property id=&quot;20148&quot; value=&quot;5&quot;/&gt;&lt;property id=&quot;20300&quot; value=&quot;Slide 21 - &amp;quot;Intrusion Detection&amp;quot;&quot;/&gt;&lt;property id=&quot;20307&quot; value=&quot;450&quot;/&gt;&lt;/object&gt;&lt;object type=&quot;3&quot; unique_id=&quot;10589&quot;&gt;&lt;property id=&quot;20148&quot; value=&quot;5&quot;/&gt;&lt;property id=&quot;20300&quot; value=&quot;Slide 18 - &amp;quot;Video Monitoring&amp;quot;&quot;/&gt;&lt;property id=&quot;20307&quot; value=&quot;451&quot;/&gt;&lt;/object&gt;&lt;object type=&quot;3&quot; unique_id=&quot;10787&quot;&gt;&lt;property id=&quot;20148&quot; value=&quot;5&quot;/&gt;&lt;property id=&quot;20300&quot; value=&quot;Slide 9 - &amp;quot;Facility Access Control&amp;quot;&quot;/&gt;&lt;property id=&quot;20307&quot; value=&quot;452&quot;/&gt;&lt;/object&gt;&lt;object type=&quot;3&quot; unique_id=&quot;10836&quot;&gt;&lt;property id=&quot;20148&quot; value=&quot;5&quot;/&gt;&lt;property id=&quot;20300&quot; value=&quot;Slide 14 - &amp;quot;Personnel Access Control&amp;quot;&quot;/&gt;&lt;property id=&quot;20307&quot; value=&quot;453&quot;/&gt;&lt;/object&gt;&lt;object type=&quot;3&quot; unique_id=&quot;10922&quot;&gt;&lt;property id=&quot;20148&quot; value=&quot;5&quot;/&gt;&lt;property id=&quot;20300&quot; value=&quot;Slide 17 - &amp;quot;Personnel Access Control – cont.&amp;quot;&quot;/&gt;&lt;property id=&quot;20307&quot; value=&quot;454&quot;/&gt;&lt;/object&gt;&lt;object type=&quot;3&quot; unique_id=&quot;11085&quot;&gt;&lt;property id=&quot;20148&quot; value=&quot;5&quot;/&gt;&lt;property id=&quot;20300&quot; value=&quot;Slide 10 - &amp;quot;Mechanical Locks&amp;quot;&quot;/&gt;&lt;property id=&quot;20307&quot; value=&quot;455&quot;/&gt;&lt;/object&gt;&lt;object type=&quot;3&quot; unique_id=&quot;11361&quot;&gt;&lt;property id=&quot;20148&quot; value=&quot;5&quot;/&gt;&lt;property id=&quot;20300&quot; value=&quot;Slide 12 - &amp;quot;Lock Picking&amp;quot;&quot;/&gt;&lt;property id=&quot;20307&quot; value=&quot;456&quot;/&gt;&lt;/object&gt;&lt;object type=&quot;3&quot; unique_id=&quot;11434&quot;&gt;&lt;property id=&quot;20148&quot; value=&quot;5&quot;/&gt;&lt;property id=&quot;20300&quot; value=&quot;Slide 19 - &amp;quot;Closed-Circuit TV (CCTV) System&amp;quot;&quot;/&gt;&lt;property id=&quot;20307&quot; value=&quot;457&quot;/&gt;&lt;/object&gt;&lt;object type=&quot;3&quot; unique_id=&quot;11591&quot;&gt;&lt;property id=&quot;20148&quot; value=&quot;5&quot;/&gt;&lt;property id=&quot;20300&quot; value=&quot;Slide 3 - &amp;quot;Why Physical Security?&amp;quot;&quot;/&gt;&lt;property id=&quot;20307&quot; value=&quot;459&quot;/&gt;&lt;/object&gt;&lt;object type=&quot;3&quot; unique_id=&quot;11812&quot;&gt;&lt;property id=&quot;20148&quot; value=&quot;5&quot;/&gt;&lt;property id=&quot;20300&quot; value=&quot;Slide 31 - &amp;quot;Summary&amp;quot;&quot;/&gt;&lt;property id=&quot;20307&quot; value=&quot;460&quot;/&gt;&lt;/object&gt;&lt;object type=&quot;3&quot; unique_id=&quot;11973&quot;&gt;&lt;property id=&quot;20148&quot; value=&quot;5&quot;/&gt;&lt;property id=&quot;20300&quot; value=&quot;Slide 5 - &amp;quot;Introduction to Physical Security – cont.&amp;quot;&quot;/&gt;&lt;property id=&quot;20307&quot; value=&quot;461&quot;/&gt;&lt;/object&gt;&lt;object type=&quot;3&quot; unique_id=&quot;12142&quot;&gt;&lt;property id=&quot;20148&quot; value=&quot;5&quot;/&gt;&lt;property id=&quot;20300&quot; value=&quot;Slide 11 - &amp;quot;Types of Tumbler Locks&amp;quot;&quot;/&gt;&lt;property id=&quot;20307&quot; value=&quot;462&quot;/&gt;&lt;/object&gt;&lt;object type=&quot;3&quot; unique_id=&quot;12253&quot;&gt;&lt;property id=&quot;20148&quot; value=&quot;5&quot;/&gt;&lt;property id=&quot;20300&quot; value=&quot;Slide 15 - &amp;quot;Biometric System &amp;quot;&quot;/&gt;&lt;property id=&quot;20307&quot; value=&quot;463&quot;/&gt;&lt;/object&gt;&lt;object type=&quot;3&quot; unique_id=&quot;12369&quot;&gt;&lt;property id=&quot;20148&quot; value=&quot;5&quot;/&gt;&lt;property id=&quot;20300&quot; value=&quot;Slide 20 - &amp;quot;Closed-Circuit TV (CCTV) System – cont.&amp;quot;&quot;/&gt;&lt;property id=&quot;20307&quot; value=&quot;464&quot;/&gt;&lt;/object&gt;&lt;object type=&quot;3&quot; unique_id=&quot;12682&quot;&gt;&lt;property id=&quot;20148&quot; value=&quot;5&quot;/&gt;&lt;property id=&quot;20300&quot; value=&quot;Slide 6 - &amp;quot;Physical Security Checklist&amp;quot;&quot;/&gt;&lt;property id=&quot;20307&quot; value=&quot;465&quot;/&gt;&lt;/object&gt;&lt;object type=&quot;3&quot; unique_id=&quot;12971&quot;&gt;&lt;property id=&quot;20148&quot; value=&quot;5&quot;/&gt;&lt;property id=&quot;20300&quot; value=&quot;Slide 16 - &amp;quot;Smart Cards&amp;quot;&quot;/&gt;&lt;property id=&quot;20307&quot; value=&quot;467&quot;/&gt;&lt;/object&gt;&lt;object type=&quot;3&quot; unique_id=&quot;12972&quot;&gt;&lt;property id=&quot;20148&quot; value=&quot;5&quot;/&gt;&lt;property id=&quot;20300&quot; value=&quot;Slide 22 - &amp;quot;Intrusion Detection Systems &amp;quot;&quot;/&gt;&lt;property id=&quot;20307&quot; value=&quot;466&quot;/&gt;&lt;/object&gt;&lt;object type=&quot;3&quot; unique_id=&quot;13289&quot;&gt;&lt;property id=&quot;20148&quot; value=&quot;5&quot;/&gt;&lt;property id=&quot;20300&quot; value=&quot;Slide 23 - &amp;quot;Intrusion Detection Systems – cont. &amp;quot;&quot;/&gt;&lt;property id=&quot;20307&quot; value=&quot;469&quot;/&gt;&lt;/object&gt;&lt;object type=&quot;3&quot; unique_id=&quot;13491&quot;&gt;&lt;property id=&quot;20148&quot; value=&quot;5&quot;/&gt;&lt;property id=&quot;20300&quot; value=&quot;Slide 7 - &amp;quot;Environmental Design&amp;quot;&quot;/&gt;&lt;property id=&quot;20307&quot; value=&quot;471&quot;/&gt;&lt;/object&gt;&lt;object type=&quot;3&quot; unique_id=&quot;13822&quot;&gt;&lt;property id=&quot;20148&quot; value=&quot;5&quot;/&gt;&lt;property id=&quot;20300&quot; value=&quot;Slide 25 - &amp;quot;Server Room&amp;quot;&quot;/&gt;&lt;property id=&quot;20307&quot; value=&quot;472&quot;/&gt;&lt;/object&gt;&lt;object type=&quot;3&quot; unique_id=&quot;14164&quot;&gt;&lt;property id=&quot;20148&quot; value=&quot;5&quot;/&gt;&lt;property id=&quot;20300&quot; value=&quot;Slide 26 - &amp;quot;A Secured Server Room&amp;quot;&quot;/&gt;&lt;property id=&quot;20307&quot; value=&quot;473&quot;/&gt;&lt;/object&gt;&lt;object type=&quot;3&quot; unique_id=&quot;14194&quot;&gt;&lt;property id=&quot;20148&quot; value=&quot;5&quot;/&gt;&lt;property id=&quot;20300&quot; value=&quot;Slide 27 - &amp;quot;Physical Attacks on Windows OS&amp;quot;&quot;/&gt;&lt;property id=&quot;20307&quot; value=&quot;474&quot;/&gt;&lt;/object&gt;&lt;object type=&quot;3&quot; unique_id=&quot;20844&quot;&gt;&lt;property id=&quot;20148&quot; value=&quot;5&quot;/&gt;&lt;property id=&quot;20300&quot; value=&quot;Slide 28 - &amp;quot;Offline Attacks&amp;quot;&quot;/&gt;&lt;property id=&quot;20307&quot; value=&quot;475&quot;/&gt;&lt;/object&gt;&lt;object type=&quot;3&quot; unique_id=&quot;21000&quot;&gt;&lt;property id=&quot;20148&quot; value=&quot;5&quot;/&gt;&lt;property id=&quot;20300&quot; value=&quot;Slide 30 - &amp;quot;Countermeasures&amp;quot;&quot;/&gt;&lt;property id=&quot;20307&quot; value=&quot;476&quot;/&gt;&lt;/object&gt;&lt;object type=&quot;3&quot; unique_id=&quot;21316&quot;&gt;&lt;property id=&quot;20148&quot; value=&quot;5&quot;/&gt;&lt;property id=&quot;20300&quot; value=&quot;Slide 29 - &amp;quot;Online Attacks&amp;quot;&quot;/&gt;&lt;property id=&quot;20307&quot; value=&quot;477&quot;/&gt;&lt;/object&gt;&lt;object type=&quot;3&quot; unique_id=&quot;21349&quot;&gt;&lt;property id=&quot;20148&quot; value=&quot;5&quot;/&gt;&lt;property id=&quot;20300&quot; value=&quot;Slide 24 - &amp;quot;Response &amp;quot;&quot;/&gt;&lt;property id=&quot;20307&quot; value=&quot;478&quot;/&gt;&lt;/object&gt;&lt;object type=&quot;3&quot; unique_id=&quot;21383&quot;&gt;&lt;property id=&quot;20148&quot; value=&quot;5&quot;/&gt;&lt;property id=&quot;20300&quot; value=&quot;Slide 13 - &amp;quot;Lock Picking – cont.&amp;quot;&quot;/&gt;&lt;property id=&quot;20307&quot; value=&quot;479&quot;/&gt;&lt;/object&gt;&lt;/object&gt;&lt;/object&gt;&lt;/database&gt;"/>
</p:tagLst>
</file>

<file path=ppt/theme/theme1.xml><?xml version="1.0" encoding="utf-8"?>
<a:theme xmlns:a="http://schemas.openxmlformats.org/drawingml/2006/main" name="Contport">
  <a:themeElements>
    <a:clrScheme name="Contport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Contport">
      <a:majorFont>
        <a:latin typeface="Arial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Contport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port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port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port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port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port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port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\\Ccsstaff1\software\office97\Template\Designs\CONTPORT.POT</Template>
  <TotalTime>11088</TotalTime>
  <Words>388</Words>
  <Application>Microsoft Office PowerPoint</Application>
  <PresentationFormat>On-screen Show (4:3)</PresentationFormat>
  <Paragraphs>41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Narrow</vt:lpstr>
      <vt:lpstr>Calibri</vt:lpstr>
      <vt:lpstr>Tahoma</vt:lpstr>
      <vt:lpstr>Verdana</vt:lpstr>
      <vt:lpstr>Wingdings</vt:lpstr>
      <vt:lpstr>Contport</vt:lpstr>
      <vt:lpstr>PowerPoint Presentation</vt:lpstr>
      <vt:lpstr>What is a Case File?</vt:lpstr>
      <vt:lpstr>File Types in EnCase</vt:lpstr>
      <vt:lpstr>File Types in EnCase</vt:lpstr>
      <vt:lpstr>File Types in EnCase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template</dc:title>
  <dc:creator>School of ICT</dc:creator>
  <cp:lastModifiedBy>Yoon Hin LIEW (NP)</cp:lastModifiedBy>
  <cp:revision>665</cp:revision>
  <cp:lastPrinted>2000-08-04T01:42:18Z</cp:lastPrinted>
  <dcterms:created xsi:type="dcterms:W3CDTF">1995-05-28T16:29:18Z</dcterms:created>
  <dcterms:modified xsi:type="dcterms:W3CDTF">2024-09-30T08:12:24Z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d7aeb4d-f421-48c2-a20e-7b6cd62b5b82_Enabled">
    <vt:lpwstr>true</vt:lpwstr>
  </property>
  <property fmtid="{D5CDD505-2E9C-101B-9397-08002B2CF9AE}" pid="3" name="MSIP_Label_dd7aeb4d-f421-48c2-a20e-7b6cd62b5b82_SetDate">
    <vt:lpwstr>2024-09-30T08:11:18Z</vt:lpwstr>
  </property>
  <property fmtid="{D5CDD505-2E9C-101B-9397-08002B2CF9AE}" pid="4" name="MSIP_Label_dd7aeb4d-f421-48c2-a20e-7b6cd62b5b82_Method">
    <vt:lpwstr>Privileged</vt:lpwstr>
  </property>
  <property fmtid="{D5CDD505-2E9C-101B-9397-08002B2CF9AE}" pid="5" name="MSIP_Label_dd7aeb4d-f421-48c2-a20e-7b6cd62b5b82_Name">
    <vt:lpwstr>dd7aeb4d-f421-48c2-a20e-7b6cd62b5b82</vt:lpwstr>
  </property>
  <property fmtid="{D5CDD505-2E9C-101B-9397-08002B2CF9AE}" pid="6" name="MSIP_Label_dd7aeb4d-f421-48c2-a20e-7b6cd62b5b82_SiteId">
    <vt:lpwstr>cba9e115-3016-4462-a1ab-a565cba0cdf1</vt:lpwstr>
  </property>
  <property fmtid="{D5CDD505-2E9C-101B-9397-08002B2CF9AE}" pid="7" name="MSIP_Label_dd7aeb4d-f421-48c2-a20e-7b6cd62b5b82_ActionId">
    <vt:lpwstr>bb1f34a5-9964-481c-b87f-42ac50cdfa39</vt:lpwstr>
  </property>
  <property fmtid="{D5CDD505-2E9C-101B-9397-08002B2CF9AE}" pid="8" name="MSIP_Label_dd7aeb4d-f421-48c2-a20e-7b6cd62b5b82_ContentBits">
    <vt:lpwstr>1</vt:lpwstr>
  </property>
  <property fmtid="{D5CDD505-2E9C-101B-9397-08002B2CF9AE}" pid="9" name="ClassificationContentMarkingHeaderLocations">
    <vt:lpwstr>Contport:3</vt:lpwstr>
  </property>
  <property fmtid="{D5CDD505-2E9C-101B-9397-08002B2CF9AE}" pid="10" name="ClassificationContentMarkingHeaderText">
    <vt:lpwstr>                    Official Open</vt:lpwstr>
  </property>
</Properties>
</file>